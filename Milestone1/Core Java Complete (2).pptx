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Urbanist SemiBold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  <p:embeddedFont>
      <p:font typeface="JetBrains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UrbanistSemiBold-bold.fntdata"/><Relationship Id="rId21" Type="http://schemas.openxmlformats.org/officeDocument/2006/relationships/font" Target="fonts/UrbanistSemiBold-regular.fntdata"/><Relationship Id="rId24" Type="http://schemas.openxmlformats.org/officeDocument/2006/relationships/font" Target="fonts/UrbanistSemiBold-boldItalic.fntdata"/><Relationship Id="rId23" Type="http://schemas.openxmlformats.org/officeDocument/2006/relationships/font" Target="fonts/Urbanist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etBrainsMono-italic.fntdata"/><Relationship Id="rId30" Type="http://schemas.openxmlformats.org/officeDocument/2006/relationships/font" Target="fonts/JetBrains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JetBrains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eff87cc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a5eff87cc7_0_1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5eff87cc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5eff87cc7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5eff87cc7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a5eff87cc7_1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e1d3b251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ae1d3b2514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5eff87cc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a5eff87cc7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5eff87c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a5eff87cc7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23.png"/><Relationship Id="rId7" Type="http://schemas.openxmlformats.org/officeDocument/2006/relationships/image" Target="../media/image19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17.png"/><Relationship Id="rId6" Type="http://schemas.openxmlformats.org/officeDocument/2006/relationships/image" Target="../media/image27.png"/><Relationship Id="rId7" Type="http://schemas.openxmlformats.org/officeDocument/2006/relationships/image" Target="../media/image21.png"/><Relationship Id="rId8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45.png"/><Relationship Id="rId10" Type="http://schemas.openxmlformats.org/officeDocument/2006/relationships/image" Target="../media/image44.png"/><Relationship Id="rId9" Type="http://schemas.openxmlformats.org/officeDocument/2006/relationships/image" Target="../media/image50.png"/><Relationship Id="rId5" Type="http://schemas.openxmlformats.org/officeDocument/2006/relationships/image" Target="../media/image31.png"/><Relationship Id="rId6" Type="http://schemas.openxmlformats.org/officeDocument/2006/relationships/image" Target="../media/image47.png"/><Relationship Id="rId7" Type="http://schemas.openxmlformats.org/officeDocument/2006/relationships/image" Target="../media/image40.png"/><Relationship Id="rId8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10" Type="http://schemas.openxmlformats.org/officeDocument/2006/relationships/image" Target="../media/image38.png"/><Relationship Id="rId9" Type="http://schemas.openxmlformats.org/officeDocument/2006/relationships/image" Target="../media/image35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32.png"/><Relationship Id="rId8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9" Type="http://schemas.openxmlformats.org/officeDocument/2006/relationships/image" Target="../media/image39.png"/><Relationship Id="rId5" Type="http://schemas.openxmlformats.org/officeDocument/2006/relationships/image" Target="../media/image11.png"/><Relationship Id="rId6" Type="http://schemas.openxmlformats.org/officeDocument/2006/relationships/image" Target="../media/image23.png"/><Relationship Id="rId7" Type="http://schemas.openxmlformats.org/officeDocument/2006/relationships/image" Target="../media/image46.png"/><Relationship Id="rId8" Type="http://schemas.openxmlformats.org/officeDocument/2006/relationships/image" Target="../media/image4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76250" y="2682329"/>
            <a:ext cx="7528909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Core </a:t>
            </a: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Java</a:t>
            </a: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Programming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005150" y="5182575"/>
            <a:ext cx="373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CCCCCC"/>
                </a:solidFill>
              </a:rPr>
              <a:t>Amar </a:t>
            </a:r>
            <a:r>
              <a:rPr i="0" lang="en-US" sz="1800" u="none" cap="none" strike="noStrike">
                <a:solidFill>
                  <a:srgbClr val="CCCCCC"/>
                </a:solidFill>
              </a:rPr>
              <a:t>Kumar </a:t>
            </a:r>
            <a:r>
              <a:rPr lang="en-US" sz="1800">
                <a:solidFill>
                  <a:srgbClr val="CCCCCC"/>
                </a:solidFill>
              </a:rPr>
              <a:t>Sharma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1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Why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Java?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000125" y="2436465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Platform Independent: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Bytecode runs on any device with a JVM. (Write Once, Run Anywhere).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000125" y="3188940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Object-Oriented: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Based on objects and classes, ensuring clean, modular code.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000125" y="3941415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Robust Memory Management: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Automatic garbage collection prevents memory leaks.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4693890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Secure: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No explicit pointers and runs inside a virtual sandbox.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14375" y="2436465"/>
            <a:ext cx="10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14375" y="3188940"/>
            <a:ext cx="10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14375" y="3941415"/>
            <a:ext cx="10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14375" y="4693890"/>
            <a:ext cx="10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5050" y="1080400"/>
            <a:ext cx="5600700" cy="530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76250" y="2755552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JDK vs JRE vs JVM</a:t>
            </a:r>
            <a:endParaRPr/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5">
            <a:alphaModFix/>
          </a:blip>
          <a:srcRect b="22872" l="5545" r="5438" t="24376"/>
          <a:stretch/>
        </p:blipFill>
        <p:spPr>
          <a:xfrm>
            <a:off x="6115050" y="2124125"/>
            <a:ext cx="5600700" cy="31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317465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JDK (Dev Kit):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Contains tools (javac, debugger) + JRE.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362232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JRE (Runtime):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Contains libraries + JVM. Needed to run apps.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62000" y="437480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JVM (Virtual Machine):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engine that loads code, verifies it, and executes it.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76250" y="3174652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76250" y="3622327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76250" y="4374802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01080"/>
            <a:ext cx="5334000" cy="488066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Class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Anatomy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76250" y="1722090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Variables (State)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76250" y="4541490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Methods (Behavior)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8961" y="2184052"/>
            <a:ext cx="4953000" cy="351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62000" y="214119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Local: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Declared inside a method. Scope is limited to that method.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62000" y="289366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Instance: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Declared inside a class but outside methods. Specific to an object.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62000" y="364614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Static: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Declared with </a:t>
            </a:r>
            <a:r>
              <a:rPr b="0" i="0" lang="en-US" sz="1500" u="none" cap="none" strike="noStrike">
                <a:solidFill>
                  <a:srgbClr val="A5D6FF"/>
                </a:solidFill>
                <a:latin typeface="Urbanist"/>
                <a:ea typeface="Urbanist"/>
                <a:cs typeface="Urbanist"/>
                <a:sym typeface="Urbanist"/>
              </a:rPr>
              <a:t>static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keyword. Shared across all objects of the class.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62000" y="496059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Definition: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 block of code that runs when called.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62000" y="540826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Signature: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Includes visibility, return type, name, and parameters.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76250" y="2141190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76250" y="2893665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76250" y="3646140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76250" y="4960590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76250" y="5408265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501080"/>
            <a:ext cx="3555950" cy="4880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501080"/>
            <a:ext cx="3555950" cy="4880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1501080"/>
            <a:ext cx="3556099" cy="488066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Types of </a:t>
            </a:r>
            <a:r>
              <a:rPr b="1" i="0" lang="en-US" sz="36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Methods</a:t>
            </a: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(Behavior)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71525" y="2434530"/>
            <a:ext cx="311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Instance Methods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71525" y="2834580"/>
            <a:ext cx="296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Belong to the object. Require an object to be created to call them. Can access instance variables.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613225" y="2434530"/>
            <a:ext cx="311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Static Methods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4613225" y="2834580"/>
            <a:ext cx="296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Belong to the class. Called using . Cannot access instance variables directly.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454925" y="2434530"/>
            <a:ext cx="311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Abstract Methods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454925" y="2834580"/>
            <a:ext cx="296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Declaration only, no body. Used in Abstract Classes and Interfaces to enforce implementation in subclasses.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81540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1815405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4925" y="1815405"/>
            <a:ext cx="2571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501080"/>
            <a:ext cx="5334000" cy="488066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Initialization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Logic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835175"/>
            <a:ext cx="4953000" cy="221233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6381750" y="2107852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Constructors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381750" y="4460527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Blocks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667500" y="252695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Special method used to initialize objects.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667500" y="297462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Same name as the class and no return type.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667500" y="342230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Default: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No args, provided by compiler if none defined.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667500" y="386997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Parameterized: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Accepts arguments to set initial values.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667500" y="487962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Static Block: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Runs once when the class is loaded.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667500" y="532730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Instance Block: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Runs every time an object is created.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381750" y="2526952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381750" y="2974627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381750" y="3422302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381750" y="3869977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381750" y="4879627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381750" y="5327302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381625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4881562"/>
            <a:ext cx="538162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4914900"/>
            <a:ext cx="479107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Constructors &amp; </a:t>
            </a:r>
            <a:r>
              <a:rPr b="1" i="0" lang="en-US" sz="36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Types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76250" y="2328862"/>
            <a:ext cx="5650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Definition &amp; Rules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476250" y="2824162"/>
            <a:ext cx="538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 special method used to initialize objects. It runs automatically when the keyword is used.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629400" y="2295525"/>
            <a:ext cx="503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Types of Constructors</a:t>
            </a:r>
            <a:endParaRPr/>
          </a:p>
        </p:txBody>
      </p:sp>
      <p:pic>
        <p:nvPicPr>
          <p:cNvPr descr="image.png" id="188" name="Google Shape;18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14450" y="3157537"/>
            <a:ext cx="4286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704850" y="3624262"/>
            <a:ext cx="515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Name must match the </a:t>
            </a: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Class Name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04850" y="4043362"/>
            <a:ext cx="515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Must </a:t>
            </a: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not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have a return type (not even void).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04850" y="4462462"/>
            <a:ext cx="515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Used to set initial values for object attributes.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858000" y="2743200"/>
            <a:ext cx="4562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Default: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Added by the compiler if no constructor is written. Initializes variables to defaults (0, null).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858000" y="3467100"/>
            <a:ext cx="4562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No-Arg: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 constructor explicitly written with empty arguments 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858000" y="4191000"/>
            <a:ext cx="4562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Parameterized: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Accepts arguments to initialize fields with specific values.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476250" y="3624262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476250" y="4043362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476250" y="4462462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629400" y="2743200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629400" y="3467100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pic>
        <p:nvPicPr>
          <p:cNvPr descr="image.png" id="200" name="Google Shape;20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20025" y="3800475"/>
            <a:ext cx="3238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6629400" y="4191000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314450"/>
            <a:ext cx="5381625" cy="3964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14450"/>
            <a:ext cx="5381625" cy="3964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238625"/>
            <a:ext cx="47910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4238625"/>
            <a:ext cx="479107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Java </a:t>
            </a:r>
            <a:r>
              <a:rPr b="1" i="0" lang="en-US" sz="36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Blocks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3695700" y="5926484"/>
            <a:ext cx="480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Execution Flow: </a:t>
            </a:r>
            <a:r>
              <a:rPr b="1" i="0" lang="en-US" sz="135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SIB (Once)</a:t>
            </a:r>
            <a:r>
              <a:rPr b="0" i="0" lang="en-US" sz="135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 → </a:t>
            </a:r>
            <a:r>
              <a:rPr b="1" i="0" lang="en-US" sz="135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IIB (Per Object)</a:t>
            </a:r>
            <a:r>
              <a:rPr b="0" i="0" lang="en-US" sz="135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 → </a:t>
            </a:r>
            <a:r>
              <a:rPr b="1" i="0" lang="en-US" sz="135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Constructor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3695700" y="5735984"/>
            <a:ext cx="48006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771525" y="1609725"/>
            <a:ext cx="503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Instance Initialization (IIB)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71525" y="2247900"/>
            <a:ext cx="4791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 block defined inside the class but outside methods.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629400" y="1609725"/>
            <a:ext cx="503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Static Initialization (SIB)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629400" y="2247900"/>
            <a:ext cx="4791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Defined using the keyword.</a:t>
            </a:r>
            <a:endParaRPr/>
          </a:p>
        </p:txBody>
      </p:sp>
      <p:pic>
        <p:nvPicPr>
          <p:cNvPr descr="image.png" id="218" name="Google Shape;21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95700" y="5983634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1000125" y="2886075"/>
            <a:ext cx="456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Execution: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Runs every time an object is created.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1000125" y="3305175"/>
            <a:ext cx="456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Order: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Executes </a:t>
            </a:r>
            <a:r>
              <a:rPr b="0" i="1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before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the constructor.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000125" y="3724275"/>
            <a:ext cx="456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Purpose: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Common code shared by all constructors.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858000" y="2886075"/>
            <a:ext cx="456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Execution: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Runs when the class is loaded by JVM.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858000" y="3305175"/>
            <a:ext cx="456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Order: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Runs only </a:t>
            </a: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ONCE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per class lifecycle.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858000" y="3724275"/>
            <a:ext cx="456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Purpose: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Initialize static variables.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771525" y="2886075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771525" y="3305175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771525" y="3724275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629400" y="2886075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629400" y="3305175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629400" y="3724275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501080"/>
            <a:ext cx="2595562" cy="4880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7562" y="1501080"/>
            <a:ext cx="2595562" cy="4880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501080"/>
            <a:ext cx="2595562" cy="4880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20187" y="1501080"/>
            <a:ext cx="2595562" cy="488066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4 Pillars of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OOP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771525" y="2434530"/>
            <a:ext cx="21052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Encapsulation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771525" y="3082230"/>
            <a:ext cx="20050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Wrapping data and methods into a single unit and restricting access via private fields.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3652837" y="2434530"/>
            <a:ext cx="21052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Inheritance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3652837" y="3082230"/>
            <a:ext cx="20050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Acquiring properties of a parent class to promote code reusability.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534150" y="2434530"/>
            <a:ext cx="21052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Polymorphism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534150" y="3082230"/>
            <a:ext cx="20050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Performing a single action in different ways (Overloading &amp; Overriding).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9415462" y="2434530"/>
            <a:ext cx="21052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Abstraction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9415462" y="3082230"/>
            <a:ext cx="20050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Hiding implementation details and showing only functionality (Interfaces).</a:t>
            </a:r>
            <a:endParaRPr/>
          </a:p>
        </p:txBody>
      </p:sp>
      <p:pic>
        <p:nvPicPr>
          <p:cNvPr descr="image.png" id="249" name="Google Shape;24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81540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52837" y="1815405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181540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15462" y="1815405"/>
            <a:ext cx="4286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01080"/>
            <a:ext cx="5334000" cy="488066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Lambda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Expressions</a:t>
            </a: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(Java 8)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476250" y="1931640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Functional Programming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476250" y="2445990"/>
            <a:ext cx="53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Introduced in Java 8 to enable writing more concise and readable code.</a:t>
            </a:r>
            <a:endParaRPr/>
          </a:p>
        </p:txBody>
      </p:sp>
      <p:pic>
        <p:nvPicPr>
          <p:cNvPr descr="image.png" id="262" name="Google Shape;26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0" y="3306067"/>
            <a:ext cx="4953000" cy="127054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762000" y="324609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Syntax: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500" u="none" cap="none" strike="noStrike">
                <a:solidFill>
                  <a:srgbClr val="A5D6FF"/>
                </a:solidFill>
                <a:latin typeface="Urbanist"/>
                <a:ea typeface="Urbanist"/>
                <a:cs typeface="Urbanist"/>
                <a:sym typeface="Urbanist"/>
              </a:rPr>
              <a:t>(parameters) -&gt; expression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762000" y="3693765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Concept: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Provides a clear and concise way to represent a method interface using an expression.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762000" y="4446240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Functional Interface: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Works with interfaces that have only one abstract method (e.g., </a:t>
            </a:r>
            <a:r>
              <a:rPr b="0" i="0" lang="en-US" sz="1500" u="none" cap="none" strike="noStrike">
                <a:solidFill>
                  <a:srgbClr val="A5D6FF"/>
                </a:solidFill>
                <a:latin typeface="Urbanist"/>
                <a:ea typeface="Urbanist"/>
                <a:cs typeface="Urbanist"/>
                <a:sym typeface="Urbanist"/>
              </a:rPr>
              <a:t>Runnable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b="0" i="0" lang="en-US" sz="1500" u="none" cap="none" strike="noStrike">
                <a:solidFill>
                  <a:srgbClr val="A5D6FF"/>
                </a:solidFill>
                <a:latin typeface="Urbanist"/>
                <a:ea typeface="Urbanist"/>
                <a:cs typeface="Urbanist"/>
                <a:sym typeface="Urbanist"/>
              </a:rPr>
              <a:t>Callable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762000" y="5198715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Benefit: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It cuts down a lot of extra, unnecessary code compared to anonymous inner classes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476250" y="3246090"/>
            <a:ext cx="10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476250" y="3693765"/>
            <a:ext cx="10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476250" y="4446240"/>
            <a:ext cx="10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476250" y="5198715"/>
            <a:ext cx="10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501080"/>
            <a:ext cx="5476875" cy="22974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501080"/>
            <a:ext cx="5476875" cy="22974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084290"/>
            <a:ext cx="5476875" cy="22974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084290"/>
            <a:ext cx="5476875" cy="22974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710755"/>
            <a:ext cx="488632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710755"/>
            <a:ext cx="488632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5293965"/>
            <a:ext cx="488632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34150" y="5293965"/>
            <a:ext cx="4886325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Types of </a:t>
            </a:r>
            <a:r>
              <a:rPr b="1" i="0" lang="en-US" sz="36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Lambda Usage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771525" y="1796355"/>
            <a:ext cx="513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No Parameter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771525" y="2196405"/>
            <a:ext cx="48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Used when the interface method has no arguments.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6534150" y="1796355"/>
            <a:ext cx="513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Single Parameter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6534150" y="2196405"/>
            <a:ext cx="48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Parentheses are optional for a single argument.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771525" y="4379565"/>
            <a:ext cx="513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Multiple Parameters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771525" y="4779615"/>
            <a:ext cx="48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Used for operations like addition or sorting.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6534150" y="4379565"/>
            <a:ext cx="513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With Return Keyword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6534150" y="4779615"/>
            <a:ext cx="48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Explicit return requires curly braces.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4"/>
          <p:cNvSpPr txBox="1"/>
          <p:nvPr/>
        </p:nvSpPr>
        <p:spPr>
          <a:xfrm>
            <a:off x="476250" y="476250"/>
            <a:ext cx="11715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Advanced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Features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476250" y="203641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Collections Framework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476250" y="2550765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Standard way to handle groups of objects.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476250" y="453196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Multithreading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476250" y="504631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Executing multiple threads simultaneously to maximize CPU utilization.</a:t>
            </a:r>
            <a:endParaRPr/>
          </a:p>
        </p:txBody>
      </p:sp>
      <p:pic>
        <p:nvPicPr>
          <p:cNvPr id="303" name="Google Shape;303;p24"/>
          <p:cNvPicPr preferRelativeResize="0"/>
          <p:nvPr/>
        </p:nvPicPr>
        <p:blipFill rotWithShape="1">
          <a:blip r:embed="rId4">
            <a:alphaModFix/>
          </a:blip>
          <a:srcRect b="0" l="16275" r="0" t="0"/>
          <a:stretch/>
        </p:blipFill>
        <p:spPr>
          <a:xfrm>
            <a:off x="6671775" y="2146939"/>
            <a:ext cx="4953000" cy="330458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4"/>
          <p:cNvSpPr txBox="1"/>
          <p:nvPr/>
        </p:nvSpPr>
        <p:spPr>
          <a:xfrm>
            <a:off x="762000" y="304606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List: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Ordered (ArrayList).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762000" y="349374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Set: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Unique (HashSet).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762000" y="394141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Map: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Key-Value (HashMap).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476250" y="3046065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476250" y="3493740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476250" y="3941415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501080"/>
            <a:ext cx="3555950" cy="4880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501080"/>
            <a:ext cx="3555950" cy="4880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1501080"/>
            <a:ext cx="3556099" cy="4880669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5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60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Collection</a:t>
            </a: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Interface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771525" y="2434530"/>
            <a:ext cx="311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List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771525" y="2834580"/>
            <a:ext cx="296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Ordered, Duplicates Allowed.</a:t>
            </a: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Maintains insertion order.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771525" y="3482280"/>
            <a:ext cx="2965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Impl: ArrayList, LinkedList, Vector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4613225" y="2434530"/>
            <a:ext cx="311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Set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4613225" y="2834580"/>
            <a:ext cx="296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Unordered, Unique.</a:t>
            </a: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No duplicate elements allowed.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4613225" y="3482280"/>
            <a:ext cx="2965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Impl: HashSet, LinkedHashSet, TreeSet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8454925" y="2434530"/>
            <a:ext cx="311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Queue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8454925" y="2834580"/>
            <a:ext cx="296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Processing Order.</a:t>
            </a: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typically FIFO (First In, First Out).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8454925" y="3482280"/>
            <a:ext cx="2965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29BFE"/>
                </a:solidFill>
                <a:latin typeface="Urbanist"/>
                <a:ea typeface="Urbanist"/>
                <a:cs typeface="Urbanist"/>
                <a:sym typeface="Urbanist"/>
              </a:rPr>
              <a:t>Impl: PriorityQueue, ArrayDeque</a:t>
            </a:r>
            <a:endParaRPr/>
          </a:p>
        </p:txBody>
      </p:sp>
      <p:pic>
        <p:nvPicPr>
          <p:cNvPr descr="image.png" id="328" name="Google Shape;32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81540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181540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4925" y="1815405"/>
            <a:ext cx="3905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501080"/>
            <a:ext cx="5334000" cy="4880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01080"/>
            <a:ext cx="5334000" cy="4880669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6"/>
          <p:cNvSpPr txBox="1"/>
          <p:nvPr/>
        </p:nvSpPr>
        <p:spPr>
          <a:xfrm>
            <a:off x="476250" y="476250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Error Handling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866775" y="189160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Exception Hierarchy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866775" y="250120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Java uses objects to represent errors.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866775" y="3139380"/>
            <a:ext cx="455295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Throwable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├── Error (System crash)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└── Exception (Recoverable)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├── Checked (Compile-time)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└── Unchecked (Runtime)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6772275" y="189160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Keywords</a:t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7058025" y="240595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try: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Code that might fail.</a:t>
            </a:r>
            <a:endParaRPr/>
          </a:p>
        </p:txBody>
      </p:sp>
      <p:sp>
        <p:nvSpPr>
          <p:cNvPr id="344" name="Google Shape;344;p26"/>
          <p:cNvSpPr txBox="1"/>
          <p:nvPr/>
        </p:nvSpPr>
        <p:spPr>
          <a:xfrm>
            <a:off x="7058025" y="285363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catch: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Code to handle the failure.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7058025" y="330130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finally: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Code that always runs.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7058025" y="374898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throw: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Explicitly throw an error.</a:t>
            </a:r>
            <a:endParaRPr/>
          </a:p>
        </p:txBody>
      </p:sp>
      <p:sp>
        <p:nvSpPr>
          <p:cNvPr id="347" name="Google Shape;347;p26"/>
          <p:cNvSpPr txBox="1"/>
          <p:nvPr/>
        </p:nvSpPr>
        <p:spPr>
          <a:xfrm>
            <a:off x="7058025" y="419665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throws: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Declare potential exceptions.</a:t>
            </a:r>
            <a:endParaRPr/>
          </a:p>
        </p:txBody>
      </p:sp>
      <p:sp>
        <p:nvSpPr>
          <p:cNvPr id="348" name="Google Shape;348;p26"/>
          <p:cNvSpPr txBox="1"/>
          <p:nvPr/>
        </p:nvSpPr>
        <p:spPr>
          <a:xfrm>
            <a:off x="6772275" y="2405955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349" name="Google Shape;349;p26"/>
          <p:cNvSpPr txBox="1"/>
          <p:nvPr/>
        </p:nvSpPr>
        <p:spPr>
          <a:xfrm>
            <a:off x="6772275" y="2853630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6772275" y="3301305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6772275" y="3748980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6772275" y="4196655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7" name="Google Shape;3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7"/>
          <p:cNvSpPr txBox="1"/>
          <p:nvPr/>
        </p:nvSpPr>
        <p:spPr>
          <a:xfrm>
            <a:off x="238125" y="2487959"/>
            <a:ext cx="11715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476250" y="3821459"/>
            <a:ext cx="112395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Thank you for listening.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